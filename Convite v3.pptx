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0158413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F8"/>
    <a:srgbClr val="05A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C0ADC3-0D58-CE16-A335-160F7FAB3900}" v="2" dt="2026-05-12T21:01:06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964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881" y="2003106"/>
            <a:ext cx="8634651" cy="4261203"/>
          </a:xfrm>
        </p:spPr>
        <p:txBody>
          <a:bodyPr anchor="b"/>
          <a:lstStyle>
            <a:lvl1pPr algn="ctr">
              <a:defRPr sz="666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9802" y="6428637"/>
            <a:ext cx="7618810" cy="2955075"/>
          </a:xfrm>
        </p:spPr>
        <p:txBody>
          <a:bodyPr/>
          <a:lstStyle>
            <a:lvl1pPr marL="0" indent="0" algn="ctr">
              <a:buNone/>
              <a:defRPr sz="2666"/>
            </a:lvl1pPr>
            <a:lvl2pPr marL="507903" indent="0" algn="ctr">
              <a:buNone/>
              <a:defRPr sz="2222"/>
            </a:lvl2pPr>
            <a:lvl3pPr marL="1015807" indent="0" algn="ctr">
              <a:buNone/>
              <a:defRPr sz="2000"/>
            </a:lvl3pPr>
            <a:lvl4pPr marL="1523710" indent="0" algn="ctr">
              <a:buNone/>
              <a:defRPr sz="1777"/>
            </a:lvl4pPr>
            <a:lvl5pPr marL="2031614" indent="0" algn="ctr">
              <a:buNone/>
              <a:defRPr sz="1777"/>
            </a:lvl5pPr>
            <a:lvl6pPr marL="2539517" indent="0" algn="ctr">
              <a:buNone/>
              <a:defRPr sz="1777"/>
            </a:lvl6pPr>
            <a:lvl7pPr marL="3047421" indent="0" algn="ctr">
              <a:buNone/>
              <a:defRPr sz="1777"/>
            </a:lvl7pPr>
            <a:lvl8pPr marL="3555324" indent="0" algn="ctr">
              <a:buNone/>
              <a:defRPr sz="1777"/>
            </a:lvl8pPr>
            <a:lvl9pPr marL="4063228" indent="0" algn="ctr">
              <a:buNone/>
              <a:defRPr sz="1777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04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5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101" y="3051410"/>
            <a:ext cx="8761631" cy="5091343"/>
          </a:xfrm>
        </p:spPr>
        <p:txBody>
          <a:bodyPr anchor="b"/>
          <a:lstStyle>
            <a:lvl1pPr>
              <a:defRPr sz="666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101" y="8190919"/>
            <a:ext cx="8761631" cy="2677417"/>
          </a:xfrm>
        </p:spPr>
        <p:txBody>
          <a:bodyPr/>
          <a:lstStyle>
            <a:lvl1pPr marL="0" indent="0">
              <a:buNone/>
              <a:defRPr sz="2666">
                <a:solidFill>
                  <a:schemeClr val="tx1"/>
                </a:solidFill>
              </a:defRPr>
            </a:lvl1pPr>
            <a:lvl2pPr marL="507903" indent="0">
              <a:buNone/>
              <a:defRPr sz="2222">
                <a:solidFill>
                  <a:schemeClr val="tx1">
                    <a:tint val="75000"/>
                  </a:schemeClr>
                </a:solidFill>
              </a:defRPr>
            </a:lvl2pPr>
            <a:lvl3pPr marL="101580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23710" indent="0">
              <a:buNone/>
              <a:defRPr sz="1777">
                <a:solidFill>
                  <a:schemeClr val="tx1">
                    <a:tint val="75000"/>
                  </a:schemeClr>
                </a:solidFill>
              </a:defRPr>
            </a:lvl4pPr>
            <a:lvl5pPr marL="2031614" indent="0">
              <a:buNone/>
              <a:defRPr sz="1777">
                <a:solidFill>
                  <a:schemeClr val="tx1">
                    <a:tint val="75000"/>
                  </a:schemeClr>
                </a:solidFill>
              </a:defRPr>
            </a:lvl5pPr>
            <a:lvl6pPr marL="2539517" indent="0">
              <a:buNone/>
              <a:defRPr sz="1777">
                <a:solidFill>
                  <a:schemeClr val="tx1">
                    <a:tint val="75000"/>
                  </a:schemeClr>
                </a:solidFill>
              </a:defRPr>
            </a:lvl6pPr>
            <a:lvl7pPr marL="3047421" indent="0">
              <a:buNone/>
              <a:defRPr sz="1777">
                <a:solidFill>
                  <a:schemeClr val="tx1">
                    <a:tint val="75000"/>
                  </a:schemeClr>
                </a:solidFill>
              </a:defRPr>
            </a:lvl7pPr>
            <a:lvl8pPr marL="3555324" indent="0">
              <a:buNone/>
              <a:defRPr sz="1777">
                <a:solidFill>
                  <a:schemeClr val="tx1">
                    <a:tint val="75000"/>
                  </a:schemeClr>
                </a:solidFill>
              </a:defRPr>
            </a:lvl8pPr>
            <a:lvl9pPr marL="4063228" indent="0">
              <a:buNone/>
              <a:defRPr sz="17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57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391" y="3258233"/>
            <a:ext cx="4317326" cy="776593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696" y="3258233"/>
            <a:ext cx="4317326" cy="776593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33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14" y="651649"/>
            <a:ext cx="8761631" cy="236576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715" y="3000409"/>
            <a:ext cx="4297484" cy="1470454"/>
          </a:xfrm>
        </p:spPr>
        <p:txBody>
          <a:bodyPr anchor="b"/>
          <a:lstStyle>
            <a:lvl1pPr marL="0" indent="0">
              <a:buNone/>
              <a:defRPr sz="2666" b="1"/>
            </a:lvl1pPr>
            <a:lvl2pPr marL="507903" indent="0">
              <a:buNone/>
              <a:defRPr sz="2222" b="1"/>
            </a:lvl2pPr>
            <a:lvl3pPr marL="1015807" indent="0">
              <a:buNone/>
              <a:defRPr sz="2000" b="1"/>
            </a:lvl3pPr>
            <a:lvl4pPr marL="1523710" indent="0">
              <a:buNone/>
              <a:defRPr sz="1777" b="1"/>
            </a:lvl4pPr>
            <a:lvl5pPr marL="2031614" indent="0">
              <a:buNone/>
              <a:defRPr sz="1777" b="1"/>
            </a:lvl5pPr>
            <a:lvl6pPr marL="2539517" indent="0">
              <a:buNone/>
              <a:defRPr sz="1777" b="1"/>
            </a:lvl6pPr>
            <a:lvl7pPr marL="3047421" indent="0">
              <a:buNone/>
              <a:defRPr sz="1777" b="1"/>
            </a:lvl7pPr>
            <a:lvl8pPr marL="3555324" indent="0">
              <a:buNone/>
              <a:defRPr sz="1777" b="1"/>
            </a:lvl8pPr>
            <a:lvl9pPr marL="4063228" indent="0">
              <a:buNone/>
              <a:defRPr sz="177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715" y="4470863"/>
            <a:ext cx="4297484" cy="65759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2697" y="3000409"/>
            <a:ext cx="4318649" cy="1470454"/>
          </a:xfrm>
        </p:spPr>
        <p:txBody>
          <a:bodyPr anchor="b"/>
          <a:lstStyle>
            <a:lvl1pPr marL="0" indent="0">
              <a:buNone/>
              <a:defRPr sz="2666" b="1"/>
            </a:lvl1pPr>
            <a:lvl2pPr marL="507903" indent="0">
              <a:buNone/>
              <a:defRPr sz="2222" b="1"/>
            </a:lvl2pPr>
            <a:lvl3pPr marL="1015807" indent="0">
              <a:buNone/>
              <a:defRPr sz="2000" b="1"/>
            </a:lvl3pPr>
            <a:lvl4pPr marL="1523710" indent="0">
              <a:buNone/>
              <a:defRPr sz="1777" b="1"/>
            </a:lvl4pPr>
            <a:lvl5pPr marL="2031614" indent="0">
              <a:buNone/>
              <a:defRPr sz="1777" b="1"/>
            </a:lvl5pPr>
            <a:lvl6pPr marL="2539517" indent="0">
              <a:buNone/>
              <a:defRPr sz="1777" b="1"/>
            </a:lvl6pPr>
            <a:lvl7pPr marL="3047421" indent="0">
              <a:buNone/>
              <a:defRPr sz="1777" b="1"/>
            </a:lvl7pPr>
            <a:lvl8pPr marL="3555324" indent="0">
              <a:buNone/>
              <a:defRPr sz="1777" b="1"/>
            </a:lvl8pPr>
            <a:lvl9pPr marL="4063228" indent="0">
              <a:buNone/>
              <a:defRPr sz="177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2697" y="4470863"/>
            <a:ext cx="4318649" cy="65759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40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00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47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14" y="815975"/>
            <a:ext cx="3276353" cy="2855913"/>
          </a:xfrm>
        </p:spPr>
        <p:txBody>
          <a:bodyPr anchor="b"/>
          <a:lstStyle>
            <a:lvl1pPr>
              <a:defRPr sz="355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648" y="1762282"/>
            <a:ext cx="5142697" cy="8698067"/>
          </a:xfrm>
        </p:spPr>
        <p:txBody>
          <a:bodyPr/>
          <a:lstStyle>
            <a:lvl1pPr>
              <a:defRPr sz="3555"/>
            </a:lvl1pPr>
            <a:lvl2pPr>
              <a:defRPr sz="3111"/>
            </a:lvl2pPr>
            <a:lvl3pPr>
              <a:defRPr sz="2666"/>
            </a:lvl3pPr>
            <a:lvl4pPr>
              <a:defRPr sz="2222"/>
            </a:lvl4pPr>
            <a:lvl5pPr>
              <a:defRPr sz="2222"/>
            </a:lvl5pPr>
            <a:lvl6pPr>
              <a:defRPr sz="2222"/>
            </a:lvl6pPr>
            <a:lvl7pPr>
              <a:defRPr sz="2222"/>
            </a:lvl7pPr>
            <a:lvl8pPr>
              <a:defRPr sz="2222"/>
            </a:lvl8pPr>
            <a:lvl9pPr>
              <a:defRPr sz="2222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9714" y="3671887"/>
            <a:ext cx="3276353" cy="6802626"/>
          </a:xfrm>
        </p:spPr>
        <p:txBody>
          <a:bodyPr/>
          <a:lstStyle>
            <a:lvl1pPr marL="0" indent="0">
              <a:buNone/>
              <a:defRPr sz="1777"/>
            </a:lvl1pPr>
            <a:lvl2pPr marL="507903" indent="0">
              <a:buNone/>
              <a:defRPr sz="1555"/>
            </a:lvl2pPr>
            <a:lvl3pPr marL="1015807" indent="0">
              <a:buNone/>
              <a:defRPr sz="1333"/>
            </a:lvl3pPr>
            <a:lvl4pPr marL="1523710" indent="0">
              <a:buNone/>
              <a:defRPr sz="1111"/>
            </a:lvl4pPr>
            <a:lvl5pPr marL="2031614" indent="0">
              <a:buNone/>
              <a:defRPr sz="1111"/>
            </a:lvl5pPr>
            <a:lvl6pPr marL="2539517" indent="0">
              <a:buNone/>
              <a:defRPr sz="1111"/>
            </a:lvl6pPr>
            <a:lvl7pPr marL="3047421" indent="0">
              <a:buNone/>
              <a:defRPr sz="1111"/>
            </a:lvl7pPr>
            <a:lvl8pPr marL="3555324" indent="0">
              <a:buNone/>
              <a:defRPr sz="1111"/>
            </a:lvl8pPr>
            <a:lvl9pPr marL="4063228" indent="0">
              <a:buNone/>
              <a:defRPr sz="111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6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14" y="815975"/>
            <a:ext cx="3276353" cy="2855913"/>
          </a:xfrm>
        </p:spPr>
        <p:txBody>
          <a:bodyPr anchor="b"/>
          <a:lstStyle>
            <a:lvl1pPr>
              <a:defRPr sz="355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18648" y="1762282"/>
            <a:ext cx="5142697" cy="8698067"/>
          </a:xfrm>
        </p:spPr>
        <p:txBody>
          <a:bodyPr anchor="t"/>
          <a:lstStyle>
            <a:lvl1pPr marL="0" indent="0">
              <a:buNone/>
              <a:defRPr sz="3555"/>
            </a:lvl1pPr>
            <a:lvl2pPr marL="507903" indent="0">
              <a:buNone/>
              <a:defRPr sz="3111"/>
            </a:lvl2pPr>
            <a:lvl3pPr marL="1015807" indent="0">
              <a:buNone/>
              <a:defRPr sz="2666"/>
            </a:lvl3pPr>
            <a:lvl4pPr marL="1523710" indent="0">
              <a:buNone/>
              <a:defRPr sz="2222"/>
            </a:lvl4pPr>
            <a:lvl5pPr marL="2031614" indent="0">
              <a:buNone/>
              <a:defRPr sz="2222"/>
            </a:lvl5pPr>
            <a:lvl6pPr marL="2539517" indent="0">
              <a:buNone/>
              <a:defRPr sz="2222"/>
            </a:lvl6pPr>
            <a:lvl7pPr marL="3047421" indent="0">
              <a:buNone/>
              <a:defRPr sz="2222"/>
            </a:lvl7pPr>
            <a:lvl8pPr marL="3555324" indent="0">
              <a:buNone/>
              <a:defRPr sz="2222"/>
            </a:lvl8pPr>
            <a:lvl9pPr marL="4063228" indent="0">
              <a:buNone/>
              <a:defRPr sz="2222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9714" y="3671887"/>
            <a:ext cx="3276353" cy="6802626"/>
          </a:xfrm>
        </p:spPr>
        <p:txBody>
          <a:bodyPr/>
          <a:lstStyle>
            <a:lvl1pPr marL="0" indent="0">
              <a:buNone/>
              <a:defRPr sz="1777"/>
            </a:lvl1pPr>
            <a:lvl2pPr marL="507903" indent="0">
              <a:buNone/>
              <a:defRPr sz="1555"/>
            </a:lvl2pPr>
            <a:lvl3pPr marL="1015807" indent="0">
              <a:buNone/>
              <a:defRPr sz="1333"/>
            </a:lvl3pPr>
            <a:lvl4pPr marL="1523710" indent="0">
              <a:buNone/>
              <a:defRPr sz="1111"/>
            </a:lvl4pPr>
            <a:lvl5pPr marL="2031614" indent="0">
              <a:buNone/>
              <a:defRPr sz="1111"/>
            </a:lvl5pPr>
            <a:lvl6pPr marL="2539517" indent="0">
              <a:buNone/>
              <a:defRPr sz="1111"/>
            </a:lvl6pPr>
            <a:lvl7pPr marL="3047421" indent="0">
              <a:buNone/>
              <a:defRPr sz="1111"/>
            </a:lvl7pPr>
            <a:lvl8pPr marL="3555324" indent="0">
              <a:buNone/>
              <a:defRPr sz="1111"/>
            </a:lvl8pPr>
            <a:lvl9pPr marL="4063228" indent="0">
              <a:buNone/>
              <a:defRPr sz="111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97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90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9615" y="651647"/>
            <a:ext cx="2190408" cy="1037251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392" y="651647"/>
            <a:ext cx="6444243" cy="1037251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06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391" y="651649"/>
            <a:ext cx="8761631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391" y="3258233"/>
            <a:ext cx="8761631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391" y="11344322"/>
            <a:ext cx="2285643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A21C3-A1DD-4E52-A97D-77E97BE9A546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4975" y="11344322"/>
            <a:ext cx="3428464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4379" y="11344322"/>
            <a:ext cx="2285643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5F999-73F4-412D-8AAD-C45A6B1722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69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15807" rtl="0" eaLnBrk="1" latinLnBrk="0" hangingPunct="1">
        <a:lnSpc>
          <a:spcPct val="90000"/>
        </a:lnSpc>
        <a:spcBef>
          <a:spcPct val="0"/>
        </a:spcBef>
        <a:buNone/>
        <a:defRPr sz="48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3952" indent="-253952" algn="l" defTabSz="101580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3111" kern="1200">
          <a:solidFill>
            <a:schemeClr val="tx1"/>
          </a:solidFill>
          <a:latin typeface="+mn-lt"/>
          <a:ea typeface="+mn-ea"/>
          <a:cs typeface="+mn-cs"/>
        </a:defRPr>
      </a:lvl1pPr>
      <a:lvl2pPr marL="761855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269759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222" kern="1200">
          <a:solidFill>
            <a:schemeClr val="tx1"/>
          </a:solidFill>
          <a:latin typeface="+mn-lt"/>
          <a:ea typeface="+mn-ea"/>
          <a:cs typeface="+mn-cs"/>
        </a:defRPr>
      </a:lvl3pPr>
      <a:lvl4pPr marL="1777662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566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469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373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276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17180" indent="-253952" algn="l" defTabSz="1015807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03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807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710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614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517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421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324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228" algn="l" defTabSz="101580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0B233455-A7C4-8DC3-D5EE-2EE80DCBB3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7"/>
          <a:stretch/>
        </p:blipFill>
        <p:spPr>
          <a:xfrm>
            <a:off x="0" y="398"/>
            <a:ext cx="10158414" cy="1223922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50F863A-94CD-6C38-8A39-8BD3FE52729A}"/>
              </a:ext>
            </a:extLst>
          </p:cNvPr>
          <p:cNvSpPr txBox="1"/>
          <p:nvPr/>
        </p:nvSpPr>
        <p:spPr>
          <a:xfrm>
            <a:off x="1392097" y="1452368"/>
            <a:ext cx="7570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rgbClr val="000000"/>
                </a:solidFill>
                <a:latin typeface="Globotipo Corporativa" panose="020B0503020202020204" pitchFamily="34" charset="0"/>
              </a:rPr>
              <a:t>Saúde</a:t>
            </a:r>
            <a:r>
              <a:rPr lang="en-US" sz="4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 em Foco</a:t>
            </a:r>
            <a:endParaRPr lang="pt-BR" sz="4400" dirty="0">
              <a:latin typeface="Globotipo Corporativa" panose="020B0503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D1C1EF-C0B0-7EE8-FB59-D14F3A1DF628}"/>
              </a:ext>
            </a:extLst>
          </p:cNvPr>
          <p:cNvSpPr txBox="1"/>
          <p:nvPr/>
        </p:nvSpPr>
        <p:spPr>
          <a:xfrm>
            <a:off x="837039" y="2766550"/>
            <a:ext cx="7924892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Que tal cuidar de quem mais importa: você?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Pensando em apoiar sua jornada de saúde e bem-estar de forma integral, apresentamos o Saúde em Foco, um programa criado para oferecer acompanhamento, prevenção e cuidado contínuo, olhando para o corpo e para a mente.</a:t>
            </a: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Veja como será a sua experiência :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             </a:t>
            </a: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                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E você ainda terá acesso a benefícios como: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endParaRPr lang="pt-BR" sz="2400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pPr algn="ctr"/>
            <a:endParaRPr lang="pt-BR" sz="2000" b="1" dirty="0">
              <a:latin typeface="Globotipo Corporativa" panose="020B0503020202020204" pitchFamily="34" charset="0"/>
            </a:endParaRPr>
          </a:p>
          <a:p>
            <a:pPr algn="ctr"/>
            <a:endParaRPr lang="pt-BR" sz="2000" b="1" dirty="0">
              <a:latin typeface="Globotipo Corporativa" panose="020B0503020202020204" pitchFamily="34" charset="0"/>
            </a:endParaRPr>
          </a:p>
          <a:p>
            <a:pPr algn="ctr"/>
            <a:endParaRPr lang="pt-BR" sz="2000" b="1" dirty="0">
              <a:latin typeface="Globotipo Corporativa" panose="020B0503020202020204" pitchFamily="34" charset="0"/>
            </a:endParaRPr>
          </a:p>
          <a:p>
            <a:pPr algn="ctr"/>
            <a:endParaRPr lang="pt-BR" sz="2000" b="1" dirty="0">
              <a:latin typeface="Globotipo Corporativa" panose="020B0503020202020204" pitchFamily="34" charset="0"/>
            </a:endParaRPr>
          </a:p>
          <a:p>
            <a:pPr algn="ctr"/>
            <a:r>
              <a:rPr lang="pt-BR" b="1" dirty="0">
                <a:latin typeface="Globotipo Corporativa" panose="020B0503020202020204" pitchFamily="34" charset="0"/>
              </a:rPr>
              <a:t>Queremos cuidar de você. Venha fazer parte do Saúde em Foco!</a:t>
            </a:r>
          </a:p>
          <a:p>
            <a:pPr algn="ctr"/>
            <a:r>
              <a:rPr lang="pt-BR" dirty="0" err="1">
                <a:solidFill>
                  <a:srgbClr val="000000"/>
                </a:solidFill>
                <a:latin typeface="Globotipo Corporativa" panose="020B0503020202020204" pitchFamily="34" charset="0"/>
              </a:rPr>
              <a:t>saude.emfoco@g.globo</a:t>
            </a:r>
            <a:endParaRPr lang="pt-BR" dirty="0">
              <a:solidFill>
                <a:srgbClr val="000000"/>
              </a:solidFill>
              <a:latin typeface="Globotipo Corporativa" panose="020B0503020202020204" pitchFamily="34" charset="0"/>
            </a:endParaRPr>
          </a:p>
          <a:p>
            <a:endParaRPr lang="pt-BR" sz="2400" dirty="0">
              <a:latin typeface="Globotipo Corporativa" panose="020B0503020202020204" pitchFamily="34" charset="0"/>
            </a:endParaRPr>
          </a:p>
          <a:p>
            <a:endParaRPr lang="pt-BR" sz="2400" dirty="0">
              <a:latin typeface="Globotipo Corporativa" panose="020B0503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91006B4-903D-75B0-3E1E-73002B42CBC2}"/>
              </a:ext>
            </a:extLst>
          </p:cNvPr>
          <p:cNvSpPr txBox="1"/>
          <p:nvPr/>
        </p:nvSpPr>
        <p:spPr>
          <a:xfrm>
            <a:off x="2402332" y="9784651"/>
            <a:ext cx="523943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3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Clique aqui, selecione </a:t>
            </a:r>
            <a:r>
              <a:rPr lang="pt-BR" sz="2300" b="1" dirty="0">
                <a:solidFill>
                  <a:srgbClr val="000000"/>
                </a:solidFill>
                <a:latin typeface="Globotipo Corporativa" panose="020B0503020202020204" pitchFamily="34" charset="0"/>
              </a:rPr>
              <a:t>Saúde em Foco </a:t>
            </a:r>
            <a:r>
              <a:rPr lang="pt-BR" sz="23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e                                           </a:t>
            </a:r>
          </a:p>
          <a:p>
            <a:pPr algn="ctr"/>
            <a:r>
              <a:rPr lang="pt-BR" sz="23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 faça seu  agendamento nos</a:t>
            </a:r>
          </a:p>
          <a:p>
            <a:pPr algn="ctr"/>
            <a:r>
              <a:rPr lang="pt-BR" sz="2300" dirty="0">
                <a:solidFill>
                  <a:srgbClr val="000000"/>
                </a:solidFill>
                <a:latin typeface="Globotipo Corporativa" panose="020B0503020202020204" pitchFamily="34" charset="0"/>
              </a:rPr>
              <a:t> Estúdios ou Jardim Botânico</a:t>
            </a:r>
            <a:endParaRPr lang="pt-BR" sz="2300" dirty="0">
              <a:latin typeface="Globotipo Corporativa" panose="020B0503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4A7CE93-D3D4-3BFC-E53E-0C439DC41FF6}"/>
              </a:ext>
            </a:extLst>
          </p:cNvPr>
          <p:cNvSpPr txBox="1"/>
          <p:nvPr/>
        </p:nvSpPr>
        <p:spPr>
          <a:xfrm>
            <a:off x="468522" y="491818"/>
            <a:ext cx="252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latin typeface="Globotipo Corporativa" panose="020B0503020202020204" pitchFamily="34" charset="0"/>
              </a:rPr>
              <a:t>Recursos Humanos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2CE96768-A0B9-8E45-7DF7-4BFB58EB1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305" y="431992"/>
            <a:ext cx="3343275" cy="762000"/>
          </a:xfrm>
          <a:prstGeom prst="rect">
            <a:avLst/>
          </a:prstGeom>
        </p:spPr>
      </p:pic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F525E22A-5C74-A405-73FD-06B51F817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5" y="1452368"/>
            <a:ext cx="773326" cy="769440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F0BA2C2-14F4-BBB7-E255-FC7BA23E1A3C}"/>
              </a:ext>
            </a:extLst>
          </p:cNvPr>
          <p:cNvSpPr/>
          <p:nvPr/>
        </p:nvSpPr>
        <p:spPr>
          <a:xfrm>
            <a:off x="2154730" y="9785163"/>
            <a:ext cx="5928001" cy="1292116"/>
          </a:xfrm>
          <a:prstGeom prst="roundRect">
            <a:avLst/>
          </a:prstGeom>
          <a:noFill/>
          <a:ln w="22225">
            <a:gradFill>
              <a:gsLst>
                <a:gs pos="0">
                  <a:srgbClr val="05A6FF"/>
                </a:gs>
                <a:gs pos="100000">
                  <a:srgbClr val="8800F8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42BE24A-EFE4-B41B-F370-AD51BA1F7CF4}"/>
              </a:ext>
            </a:extLst>
          </p:cNvPr>
          <p:cNvSpPr txBox="1"/>
          <p:nvPr/>
        </p:nvSpPr>
        <p:spPr>
          <a:xfrm>
            <a:off x="1139875" y="6181627"/>
            <a:ext cx="2530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Globotipo Corporativa Textos" panose="020B0503020202020204" pitchFamily="34" charset="0"/>
              </a:rPr>
              <a:t>Consultas com Endocrinologista e Nutricionista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66B22FF-031E-2CB3-5DBB-86D667D8C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862159" y="6156710"/>
            <a:ext cx="1014412" cy="101441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BCEF59F-7522-2252-E050-AB28D2768628}"/>
              </a:ext>
            </a:extLst>
          </p:cNvPr>
          <p:cNvSpPr txBox="1"/>
          <p:nvPr/>
        </p:nvSpPr>
        <p:spPr>
          <a:xfrm>
            <a:off x="7318543" y="6364315"/>
            <a:ext cx="2518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Globotipo Corporativa Textos" panose="020B0503020202020204" pitchFamily="34" charset="0"/>
              </a:rPr>
              <a:t>Suporte </a:t>
            </a:r>
          </a:p>
          <a:p>
            <a:pPr algn="ctr"/>
            <a:r>
              <a:rPr lang="pt-BR" dirty="0">
                <a:latin typeface="Globotipo Corporativa Textos" panose="020B0503020202020204" pitchFamily="34" charset="0"/>
              </a:rPr>
              <a:t>Emocional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3D5BE69-4716-BCF7-DA19-55E8789A2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070" y="6106300"/>
            <a:ext cx="1014413" cy="1014413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D91CB469-5EE8-BB71-7C2D-98C614C39C20}"/>
              </a:ext>
            </a:extLst>
          </p:cNvPr>
          <p:cNvSpPr txBox="1"/>
          <p:nvPr/>
        </p:nvSpPr>
        <p:spPr>
          <a:xfrm>
            <a:off x="4535601" y="6317289"/>
            <a:ext cx="2530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Globotipo Corporativa Textos" panose="020B0503020202020204" pitchFamily="34" charset="0"/>
              </a:rPr>
              <a:t>Exames </a:t>
            </a:r>
          </a:p>
          <a:p>
            <a:pPr algn="ctr"/>
            <a:r>
              <a:rPr lang="pt-BR" dirty="0">
                <a:latin typeface="Globotipo Corporativa Textos" panose="020B0503020202020204" pitchFamily="34" charset="0"/>
              </a:rPr>
              <a:t>Personalizados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D373D1C-77C7-DEC3-92C0-5ED991D9F0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3160" y="8544371"/>
            <a:ext cx="802179" cy="80217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6BB7F2EB-9560-906B-B646-975377EEDFCF}"/>
              </a:ext>
            </a:extLst>
          </p:cNvPr>
          <p:cNvSpPr txBox="1"/>
          <p:nvPr/>
        </p:nvSpPr>
        <p:spPr>
          <a:xfrm>
            <a:off x="2572770" y="8237478"/>
            <a:ext cx="71016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>
                <a:latin typeface="Globotipo Corporativa Textos" panose="020B0503020202020204" pitchFamily="34" charset="0"/>
              </a:rPr>
              <a:t>Isenção de coparticipação no plano de saúde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>
                <a:latin typeface="Globotipo Corporativa Textos" panose="020B0503020202020204" pitchFamily="34" charset="0"/>
              </a:rPr>
              <a:t>Créditos no Wellhub para uma vida mais ativa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>
                <a:latin typeface="Globotipo Corporativa Textos" panose="020B0503020202020204" pitchFamily="34" charset="0"/>
              </a:rPr>
              <a:t>Concierge para agendamento de exames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>
                <a:latin typeface="Globotipo Corporativa Textos" panose="020B0503020202020204" pitchFamily="34" charset="0"/>
              </a:rPr>
              <a:t>Página de conteúdos exclusivos no Conexão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3B715E8-1D0A-A5D4-69F2-E3EA0B126E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564" y="6270006"/>
            <a:ext cx="834951" cy="8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40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ADE1CB83F1824592845713ABB9F575" ma:contentTypeVersion="19" ma:contentTypeDescription="Crie um novo documento." ma:contentTypeScope="" ma:versionID="facb013b05351155446ed841ecf93245">
  <xsd:schema xmlns:xsd="http://www.w3.org/2001/XMLSchema" xmlns:xs="http://www.w3.org/2001/XMLSchema" xmlns:p="http://schemas.microsoft.com/office/2006/metadata/properties" xmlns:ns2="2df4f66e-e0f1-47d8-88a2-8571a0d35312" xmlns:ns3="935fcb2f-a1aa-465e-aa0e-868d0a4c471a" targetNamespace="http://schemas.microsoft.com/office/2006/metadata/properties" ma:root="true" ma:fieldsID="491c9a6119d62808fdc886e2bcc05db9" ns2:_="" ns3:_="">
    <xsd:import namespace="2df4f66e-e0f1-47d8-88a2-8571a0d35312"/>
    <xsd:import namespace="935fcb2f-a1aa-465e-aa0e-868d0a4c47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f4f66e-e0f1-47d8-88a2-8571a0d35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e95d02-0283-4058-b157-1f44ea38b5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3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fcb2f-a1aa-465e-aa0e-868d0a4c471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83c736f-cc7b-46da-9c0f-c400e16b5e10}" ma:internalName="TaxCatchAll" ma:showField="CatchAllData" ma:web="935fcb2f-a1aa-465e-aa0e-868d0a4c47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f4f66e-e0f1-47d8-88a2-8571a0d35312">
      <Terms xmlns="http://schemas.microsoft.com/office/infopath/2007/PartnerControls"/>
    </lcf76f155ced4ddcb4097134ff3c332f>
    <_Flow_SignoffStatus xmlns="2df4f66e-e0f1-47d8-88a2-8571a0d35312" xsi:nil="true"/>
    <TaxCatchAll xmlns="935fcb2f-a1aa-465e-aa0e-868d0a4c471a" xsi:nil="true"/>
  </documentManagement>
</p:properties>
</file>

<file path=customXml/itemProps1.xml><?xml version="1.0" encoding="utf-8"?>
<ds:datastoreItem xmlns:ds="http://schemas.openxmlformats.org/officeDocument/2006/customXml" ds:itemID="{A65CBB5E-DECD-4F40-B87E-D3730D4EAA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f4f66e-e0f1-47d8-88a2-8571a0d35312"/>
    <ds:schemaRef ds:uri="935fcb2f-a1aa-465e-aa0e-868d0a4c47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ED6DE5-F89B-4BB6-A533-2E4625625D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35A131-9825-45B5-BC1A-807B189EA69A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935fcb2f-a1aa-465e-aa0e-868d0a4c471a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2df4f66e-e0f1-47d8-88a2-8571a0d3531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274</TotalTime>
  <Words>146</Words>
  <Application>Microsoft Office PowerPoint</Application>
  <PresentationFormat>Personalizar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Globotipo Corporativa</vt:lpstr>
      <vt:lpstr>Globotipo Corporativa Textos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Oliveira Gomes Da Silva</dc:creator>
  <cp:lastModifiedBy>Mariana Almeida</cp:lastModifiedBy>
  <cp:revision>16</cp:revision>
  <dcterms:created xsi:type="dcterms:W3CDTF">2024-05-03T15:59:23Z</dcterms:created>
  <dcterms:modified xsi:type="dcterms:W3CDTF">2026-05-12T21:10:50Z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c542d3-6316-42ad-9eaa-e82fa419e5f2_Enabled">
    <vt:lpwstr>true</vt:lpwstr>
  </property>
  <property fmtid="{D5CDD505-2E9C-101B-9397-08002B2CF9AE}" pid="3" name="MSIP_Label_3dc542d3-6316-42ad-9eaa-e82fa419e5f2_SetDate">
    <vt:lpwstr>2024-05-03T16:03:17Z</vt:lpwstr>
  </property>
  <property fmtid="{D5CDD505-2E9C-101B-9397-08002B2CF9AE}" pid="4" name="MSIP_Label_3dc542d3-6316-42ad-9eaa-e82fa419e5f2_Method">
    <vt:lpwstr>Standard</vt:lpwstr>
  </property>
  <property fmtid="{D5CDD505-2E9C-101B-9397-08002B2CF9AE}" pid="5" name="MSIP_Label_3dc542d3-6316-42ad-9eaa-e82fa419e5f2_Name">
    <vt:lpwstr>3dc542d3-6316-42ad-9eaa-e82fa419e5f2</vt:lpwstr>
  </property>
  <property fmtid="{D5CDD505-2E9C-101B-9397-08002B2CF9AE}" pid="6" name="MSIP_Label_3dc542d3-6316-42ad-9eaa-e82fa419e5f2_SiteId">
    <vt:lpwstr>a7cdc447-3b29-4b41-b73e-8a2cb54b06c6</vt:lpwstr>
  </property>
  <property fmtid="{D5CDD505-2E9C-101B-9397-08002B2CF9AE}" pid="7" name="MSIP_Label_3dc542d3-6316-42ad-9eaa-e82fa419e5f2_ActionId">
    <vt:lpwstr>2b8cbbc7-aca8-4645-9aaa-b868049d1a58</vt:lpwstr>
  </property>
  <property fmtid="{D5CDD505-2E9C-101B-9397-08002B2CF9AE}" pid="8" name="MSIP_Label_3dc542d3-6316-42ad-9eaa-e82fa419e5f2_ContentBits">
    <vt:lpwstr>0</vt:lpwstr>
  </property>
  <property fmtid="{D5CDD505-2E9C-101B-9397-08002B2CF9AE}" pid="9" name="ContentTypeId">
    <vt:lpwstr>0x01010032ADE1CB83F1824592845713ABB9F575</vt:lpwstr>
  </property>
  <property fmtid="{D5CDD505-2E9C-101B-9397-08002B2CF9AE}" pid="10" name="MediaServiceImageTags">
    <vt:lpwstr/>
  </property>
</Properties>
</file>